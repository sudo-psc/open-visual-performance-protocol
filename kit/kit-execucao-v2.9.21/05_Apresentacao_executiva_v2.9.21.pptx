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ABERTURA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5D"/>
                </a:solidFill>
                <a:latin typeface="Aptos Display"/>
              </a:defRPr>
            </a:pPr>
            <a:r>
              <a:t>Saúde visual: uma hipótese operacional mensurável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4313B"/>
                </a:solidFill>
                <a:latin typeface="Aptos"/>
              </a:defRPr>
            </a:pPr>
            <a:r>
              <a:t>• Sintomas oculares são frequentes em populações de tela.</a:t>
            </a:r>
          </a:p>
          <a:p>
            <a:pPr>
              <a:spcAft>
                <a:spcPts val="1300"/>
              </a:spcAft>
              <a:defRPr sz="2000">
                <a:solidFill>
                  <a:srgbClr val="24313B"/>
                </a:solidFill>
                <a:latin typeface="Aptos"/>
              </a:defRPr>
            </a:pPr>
            <a:r>
              <a:t>• A literatura mostra associação com limitação percebida — não ROI corporativo.</a:t>
            </a:r>
          </a:p>
          <a:p>
            <a:pPr>
              <a:spcAft>
                <a:spcPts val="1300"/>
              </a:spcAft>
              <a:defRPr sz="2000">
                <a:solidFill>
                  <a:srgbClr val="24313B"/>
                </a:solidFill>
                <a:latin typeface="Aptos"/>
              </a:defRPr>
            </a:pPr>
            <a:r>
              <a:t>• O pedido é medir com governança e aceitar resultado nulo.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44652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717E"/>
                </a:solidFill>
              </a:defRPr>
            </a:pPr>
            <a:r>
              <a:t>Kit de Execução v2.9.21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CONTRATO DE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5D"/>
                </a:solidFill>
                <a:latin typeface="Aptos Display"/>
              </a:defRPr>
            </a:pPr>
            <a:r>
              <a:t>Quatro coisas que não podem ser misturadas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4313B"/>
                </a:solidFill>
                <a:latin typeface="Aptos"/>
              </a:defRPr>
            </a:pPr>
            <a:r>
              <a:t>• Sintoma clínico</a:t>
            </a:r>
          </a:p>
          <a:p>
            <a:pPr>
              <a:spcAft>
                <a:spcPts val="1300"/>
              </a:spcAft>
              <a:defRPr sz="2000">
                <a:solidFill>
                  <a:srgbClr val="24313B"/>
                </a:solidFill>
                <a:latin typeface="Aptos"/>
              </a:defRPr>
            </a:pPr>
            <a:r>
              <a:t>• Produtividade percebida</a:t>
            </a:r>
          </a:p>
          <a:p>
            <a:pPr>
              <a:spcAft>
                <a:spcPts val="1300"/>
              </a:spcAft>
              <a:defRPr sz="2000">
                <a:solidFill>
                  <a:srgbClr val="24313B"/>
                </a:solidFill>
                <a:latin typeface="Aptos"/>
              </a:defRPr>
            </a:pPr>
            <a:r>
              <a:t>• Indicador operacional objetivo</a:t>
            </a:r>
          </a:p>
          <a:p>
            <a:pPr>
              <a:spcAft>
                <a:spcPts val="1300"/>
              </a:spcAft>
              <a:defRPr sz="2000">
                <a:solidFill>
                  <a:srgbClr val="24313B"/>
                </a:solidFill>
                <a:latin typeface="Aptos"/>
              </a:defRPr>
            </a:pPr>
            <a:r>
              <a:t>• Benefício financeiro auditável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44652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717E"/>
                </a:solidFill>
              </a:defRPr>
            </a:pPr>
            <a:r>
              <a:t>Kit de Execução v2.9.21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ECONOMIA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5D"/>
                </a:solidFill>
                <a:latin typeface="Aptos Display"/>
              </a:defRPr>
            </a:pPr>
            <a:r>
              <a:t>Capacidade equivalente não é caixa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4313B"/>
                </a:solidFill>
                <a:latin typeface="Aptos"/>
              </a:defRPr>
            </a:pPr>
            <a:r>
              <a:t>• N × C_anual × (H/12) × prevalência × perda percebida/assumida dimensiona um cenário.</a:t>
            </a:r>
          </a:p>
          <a:p>
            <a:pPr>
              <a:spcAft>
                <a:spcPts val="1300"/>
              </a:spcAft>
              <a:defRPr sz="2000">
                <a:solidFill>
                  <a:srgbClr val="24313B"/>
                </a:solidFill>
                <a:latin typeface="Aptos"/>
              </a:defRPr>
            </a:pPr>
            <a:r>
              <a:t>• Overhead fixo não vira economia sem redução ou realocação demonstrada.</a:t>
            </a:r>
          </a:p>
          <a:p>
            <a:pPr>
              <a:spcAft>
                <a:spcPts val="1300"/>
              </a:spcAft>
              <a:defRPr sz="2000">
                <a:solidFill>
                  <a:srgbClr val="24313B"/>
                </a:solidFill>
                <a:latin typeface="Aptos"/>
              </a:defRPr>
            </a:pPr>
            <a:r>
              <a:t>• ROI exige B_caixa incremental atribuível e K_H efetivo no mesmo horizonte.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44652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717E"/>
                </a:solidFill>
              </a:defRPr>
            </a:pPr>
            <a:r>
              <a:t>Kit de Execução v2.9.21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ORÇAMENTO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5D"/>
                </a:solidFill>
                <a:latin typeface="Aptos Display"/>
              </a:defRPr>
            </a:pPr>
            <a:r>
              <a:t>Primeiro o BOM, depois o preço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4313B"/>
                </a:solidFill>
                <a:latin typeface="Aptos"/>
              </a:defRPr>
            </a:pPr>
            <a:r>
              <a:t>• Escopo, quantidades, fontes, datas, impostos, horas internas e exclusões.</a:t>
            </a:r>
          </a:p>
          <a:p>
            <a:pPr>
              <a:spcAft>
                <a:spcPts val="1300"/>
              </a:spcAft>
              <a:defRPr sz="2000">
                <a:solidFill>
                  <a:srgbClr val="24313B"/>
                </a:solidFill>
                <a:latin typeface="Aptos"/>
              </a:defRPr>
            </a:pPr>
            <a:r>
              <a:t>• Sem memória de formação de preço, não há orçamento defensável.</a:t>
            </a:r>
          </a:p>
          <a:p>
            <a:pPr>
              <a:spcAft>
                <a:spcPts val="1300"/>
              </a:spcAft>
              <a:defRPr sz="2000">
                <a:solidFill>
                  <a:srgbClr val="24313B"/>
                </a:solidFill>
                <a:latin typeface="Aptos"/>
              </a:defRPr>
            </a:pPr>
            <a:r>
              <a:t>• O teto é aprovado antes da execução.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44652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717E"/>
                </a:solidFill>
              </a:defRPr>
            </a:pPr>
            <a:r>
              <a:t>Kit de Execução v2.9.21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MÉTODO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5D"/>
                </a:solidFill>
                <a:latin typeface="Aptos Display"/>
              </a:defRPr>
            </a:pPr>
            <a:r>
              <a:t>Desenho proporcional ao porte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4313B"/>
                </a:solidFill>
                <a:latin typeface="Aptos"/>
              </a:defRPr>
            </a:pPr>
            <a:r>
              <a:t>• Uma equipe: várias medições ou implantação escalonada; tendência local.</a:t>
            </a:r>
          </a:p>
          <a:p>
            <a:pPr>
              <a:spcAft>
                <a:spcPts val="1300"/>
              </a:spcAft>
              <a:defRPr sz="2000">
                <a:solidFill>
                  <a:srgbClr val="24313B"/>
                </a:solidFill>
                <a:latin typeface="Aptos"/>
              </a:defRPr>
            </a:pPr>
            <a:r>
              <a:t>• Poucas equipes: lista de espera; comparação exploratória.</a:t>
            </a:r>
          </a:p>
          <a:p>
            <a:pPr>
              <a:spcAft>
                <a:spcPts val="1300"/>
              </a:spcAft>
              <a:defRPr sz="2000">
                <a:solidFill>
                  <a:srgbClr val="24313B"/>
                </a:solidFill>
                <a:latin typeface="Aptos"/>
              </a:defRPr>
            </a:pPr>
            <a:r>
              <a:t>• Muitas equipes: randomização por conglomerados ou stepped-wedge; ICC e cálculo amostral.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44652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717E"/>
                </a:solidFill>
              </a:defRPr>
            </a:pPr>
            <a:r>
              <a:t>Kit de Execução v2.9.21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DECISÃO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5D"/>
                </a:solidFill>
                <a:latin typeface="Aptos Display"/>
              </a:defRPr>
            </a:pPr>
            <a:r>
              <a:t>Quatro gates independentes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4313B"/>
                </a:solidFill>
                <a:latin typeface="Aptos"/>
              </a:defRPr>
            </a:pPr>
            <a:r>
              <a:t>• Implementação: alcance, fidelidade, perdas e segurança.</a:t>
            </a:r>
          </a:p>
          <a:p>
            <a:pPr>
              <a:spcAft>
                <a:spcPts val="1300"/>
              </a:spcAft>
              <a:defRPr sz="2000">
                <a:solidFill>
                  <a:srgbClr val="24313B"/>
                </a:solidFill>
                <a:latin typeface="Aptos"/>
              </a:defRPr>
            </a:pPr>
            <a:r>
              <a:t>• Clínico: efeito, relevância e intervalo de confiança.</a:t>
            </a:r>
          </a:p>
          <a:p>
            <a:pPr>
              <a:spcAft>
                <a:spcPts val="1300"/>
              </a:spcAft>
              <a:defRPr sz="2000">
                <a:solidFill>
                  <a:srgbClr val="24313B"/>
                </a:solidFill>
                <a:latin typeface="Aptos"/>
              </a:defRPr>
            </a:pPr>
            <a:r>
              <a:t>• Operacional: indicador pré-especificado, ainda exploratório.</a:t>
            </a:r>
          </a:p>
          <a:p>
            <a:pPr>
              <a:spcAft>
                <a:spcPts val="1300"/>
              </a:spcAft>
              <a:defRPr sz="2000">
                <a:solidFill>
                  <a:srgbClr val="24313B"/>
                </a:solidFill>
                <a:latin typeface="Aptos"/>
              </a:defRPr>
            </a:pPr>
            <a:r>
              <a:t>• Financeiro: benefício atribuível e auditável; sintomas não abrem este gate.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44652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717E"/>
                </a:solidFill>
              </a:defRPr>
            </a:pPr>
            <a:r>
              <a:t>Kit de Execução v2.9.21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GOVERNANÇA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5D"/>
                </a:solidFill>
                <a:latin typeface="Aptos Display"/>
              </a:defRPr>
            </a:pPr>
            <a:r>
              <a:t>Privacidade é parte do desenho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4313B"/>
                </a:solidFill>
                <a:latin typeface="Aptos"/>
              </a:defRPr>
            </a:pPr>
            <a:r>
              <a:t>• Dados individuais restritos à equipe de saúde.</a:t>
            </a:r>
          </a:p>
          <a:p>
            <a:pPr>
              <a:spcAft>
                <a:spcPts val="1300"/>
              </a:spcAft>
              <a:defRPr sz="2000">
                <a:solidFill>
                  <a:srgbClr val="24313B"/>
                </a:solidFill>
                <a:latin typeface="Aptos"/>
              </a:defRPr>
            </a:pPr>
            <a:r>
              <a:t>• Gestão recebe somente agregados com regra de supressão.</a:t>
            </a:r>
          </a:p>
          <a:p>
            <a:pPr>
              <a:spcAft>
                <a:spcPts val="1300"/>
              </a:spcAft>
              <a:defRPr sz="2000">
                <a:solidFill>
                  <a:srgbClr val="24313B"/>
                </a:solidFill>
                <a:latin typeface="Aptos"/>
              </a:defRPr>
            </a:pPr>
            <a:r>
              <a:t>• Finalidade, retenção, segurança e direitos documentados antes da coleta.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44652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717E"/>
                </a:solidFill>
              </a:defRPr>
            </a:pPr>
            <a:r>
              <a:t>Kit de Execução v2.9.21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A6A6"/>
                </a:solidFill>
                <a:latin typeface="Aptos"/>
              </a:defRPr>
            </a:pPr>
            <a:r>
              <a:t>PRÓXIMO PASSO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5D"/>
                </a:solidFill>
                <a:latin typeface="Aptos Display"/>
              </a:defRPr>
            </a:pPr>
            <a:r>
              <a:t>O pedido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4313B"/>
                </a:solidFill>
                <a:latin typeface="Aptos"/>
              </a:defRPr>
            </a:pPr>
            <a:r>
              <a:t>• Autorizar linha de base e BOM numa área definida.</a:t>
            </a:r>
          </a:p>
          <a:p>
            <a:pPr>
              <a:spcAft>
                <a:spcPts val="1300"/>
              </a:spcAft>
              <a:defRPr sz="2000">
                <a:solidFill>
                  <a:srgbClr val="24313B"/>
                </a:solidFill>
                <a:latin typeface="Aptos"/>
              </a:defRPr>
            </a:pPr>
            <a:r>
              <a:t>• Nomear responsável, teto e evidências exigidas.</a:t>
            </a:r>
          </a:p>
          <a:p>
            <a:pPr>
              <a:spcAft>
                <a:spcPts val="1300"/>
              </a:spcAft>
              <a:defRPr sz="2000">
                <a:solidFill>
                  <a:srgbClr val="24313B"/>
                </a:solidFill>
                <a:latin typeface="Aptos"/>
              </a:defRPr>
            </a:pPr>
            <a:r>
              <a:t>• Em D+90: confirmar melhor, ajustar ou encerrar — sem escala automática.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44652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717E"/>
                </a:solidFill>
              </a:defRPr>
            </a:pPr>
            <a:r>
              <a:t>Kit de Execução v2.9.21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